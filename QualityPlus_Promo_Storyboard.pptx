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zeen Roslan | AEM Enersol" userId="46ed69b5-851b-4c96-83c8-43f580f4b750" providerId="ADAL" clId="{9BF00382-1B6F-4645-8A68-B0486AE6A8CC}"/>
    <pc:docChg chg="modSld">
      <pc:chgData name="Razeen Roslan | AEM Enersol" userId="46ed69b5-851b-4c96-83c8-43f580f4b750" providerId="ADAL" clId="{9BF00382-1B6F-4645-8A68-B0486AE6A8CC}" dt="2026-05-21T02:05:55.985" v="6" actId="20577"/>
      <pc:docMkLst>
        <pc:docMk/>
      </pc:docMkLst>
      <pc:sldChg chg="modSp mod">
        <pc:chgData name="Razeen Roslan | AEM Enersol" userId="46ed69b5-851b-4c96-83c8-43f580f4b750" providerId="ADAL" clId="{9BF00382-1B6F-4645-8A68-B0486AE6A8CC}" dt="2026-05-21T02:05:55.985" v="6" actId="20577"/>
        <pc:sldMkLst>
          <pc:docMk/>
          <pc:sldMk cId="0" sldId="256"/>
        </pc:sldMkLst>
        <pc:spChg chg="mod">
          <ac:chgData name="Razeen Roslan | AEM Enersol" userId="46ed69b5-851b-4c96-83c8-43f580f4b750" providerId="ADAL" clId="{9BF00382-1B6F-4645-8A68-B0486AE6A8CC}" dt="2026-05-21T02:05:55.985" v="6" actId="20577"/>
          <ac:spMkLst>
            <pc:docMk/>
            <pc:sldMk cId="0" sldId="25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18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4B77"/>
          </a:solidFill>
          <a:ln w="12700">
            <a:solidFill>
              <a:srgbClr val="064B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3AD9A">
              <a:alpha val="8000"/>
            </a:srgbClr>
          </a:solidFill>
          <a:ln w="12700">
            <a:solidFill>
              <a:srgbClr val="03AD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347472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AEM ENERGY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3AD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Plus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trusted. Every check, every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B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A7A8A"/>
                </a:solidFill>
              </a:rPr>
              <a:t>SCENES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B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3611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A7A8A"/>
                </a:solidFill>
              </a:rPr>
              <a:t>DURATION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B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A7A8A"/>
                </a:solidFill>
              </a:rPr>
              <a:t>AUDIENCE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B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Cinematic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611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A7A8A"/>
                </a:solidFill>
              </a:rPr>
              <a:t>STYLE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08760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8BC977"/>
          </a:solidFill>
          <a:ln w="12700">
            <a:solidFill>
              <a:srgbClr val="8BC9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2395728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63BF81"/>
          </a:solidFill>
          <a:ln w="1270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3282696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169664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5056632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5943600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064B77"/>
          </a:solidFill>
          <a:ln w="12700">
            <a:solidFill>
              <a:srgbClr val="064B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6830568" y="4343400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1D275A"/>
          </a:solidFill>
          <a:ln w="12700">
            <a:solidFill>
              <a:srgbClr val="1D27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8A"/>
                </a:solidFill>
              </a:rPr>
              <a:t>Promotional Video Script &amp; Storyboard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63BF81"/>
          </a:solidFill>
          <a:ln w="1270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63BF81">
              <a:alpha val="20000"/>
            </a:srgbClr>
          </a:solidFill>
          <a:ln w="1270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B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Open — The Cost of Bad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63BF81">
              <a:alpha val="20000"/>
            </a:srgbClr>
          </a:solidFill>
          <a:ln w="1270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63BF81"/>
                </a:solidFill>
              </a:rPr>
              <a:t>HOOK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day, decisions get made on data no one can trust. Missed values. Silent errors. Inconsistencies buried in thousands of rows."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screen, blinking cursor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with red errors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ticking on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push-in shot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dramatic zoom. Desaturated cold grade. Tension music builds steadily.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of 6  ·  0:00 – 0:12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E07070">
              <a:alpha val="20000"/>
            </a:srgbClr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0:12 – 0:22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07070">
              <a:alpha val="20000"/>
            </a:srgbClr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07070"/>
                </a:solidFill>
              </a:rPr>
              <a:t>PROBLEM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Oil &amp; Gas teams, a single data error doesn't just slow you down — it affects production decisions, reporting, and stakeholder trust."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frustrated at screen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open, checking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error badges multiply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 confused meeting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cuts, handheld-style movement. Heartbeat sound design. Urgency.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31136"/>
            <a:ext cx="3474720" cy="48463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44068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"Manual QC takes hours. Errors slip through anyway."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of 6  ·  0:12 – 0:22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03AD9A">
              <a:alpha val="20000"/>
            </a:srgbClr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A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Reveal — Quality Plus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0:22 – 0:35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03AD9A">
              <a:alpha val="20000"/>
            </a:srgbClr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3AD9A"/>
                </a:solidFill>
              </a:rPr>
              <a:t>SOLUTION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"Introducing Quality Plus — your data, trusted. Every check, every time."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dashboard fades 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teal glow — logo reveal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slides into frame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particle data flow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dramatic reveal. Colour grade shifts to AEM teal. Orchestral swell.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31136"/>
            <a:ext cx="3474720" cy="48463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44068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Plus" — large cinematic title card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of 6  ·  0:22 – 0:35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008192">
              <a:alpha val="20000"/>
            </a:srgbClr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Showcase — AI-Powered Checks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– 1:00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008192">
              <a:alpha val="20000"/>
            </a:srgbClr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8192"/>
                </a:solidFill>
              </a:rPr>
              <a:t>FEATURES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"Upload your dataset. Run AI Rule Check — it reads your columns and auto-applies O&amp;G domain rules. Completeness, Uniqueness, Validity, Consistency. Then the AI Summary writes itself — plain language, key issues, ready to share."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 animation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Rule Check — rules populate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 cards light up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types on screen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product UI walkthrough. Screen recordings with cinematic overlays. Feature callouts animate in.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31136"/>
            <a:ext cx="3474720" cy="48463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44068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"AI Rule Check", "4 Dimensions", "AI Summary", "PDF Report"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1051560" y="2880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HIGHLIGHTED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156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5156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Rule Check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301752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498348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694944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Shape 42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Shape 44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45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of 6  ·  0:35 – 1:00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28B98F">
              <a:alpha val="20000"/>
            </a:srgbClr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Proof / Results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28B98F">
              <a:alpha val="20000"/>
            </a:srgbClr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28B98F"/>
                </a:solidFill>
              </a:rPr>
              <a:t>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for AEM Energy Solutions. Trusted across Well Intervention, production, and operations teams."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 score animates up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history trend 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sharing PDF on tablet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logo lockup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clean cuts. Score counter animates. Warm teal grade throughout.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31136"/>
            <a:ext cx="3474720" cy="48463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44068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"Multi-dimension quality. One platform."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1051560" y="2880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HIGHLIGHTED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156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5156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Scores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301752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30906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03AD9A">
              <a:alpha val="15000"/>
            </a:srgbClr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4983480" y="3090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Shape 38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Shape 42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of 6  ·  1:00 – 1:10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8BC977"/>
          </a:solidFill>
          <a:ln w="12700">
            <a:solidFill>
              <a:srgbClr val="8BC9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640080" cy="640080"/>
          </a:xfrm>
          <a:prstGeom prst="ellipse">
            <a:avLst/>
          </a:prstGeom>
          <a:solidFill>
            <a:srgbClr val="8BC977">
              <a:alpha val="20000"/>
            </a:srgbClr>
          </a:solidFill>
          <a:ln w="12700">
            <a:solidFill>
              <a:srgbClr val="8BC9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to Action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2560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8BC977">
              <a:alpha val="20000"/>
            </a:srgbClr>
          </a:solidFill>
          <a:ln w="12700">
            <a:solidFill>
              <a:srgbClr val="8BC9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0" y="256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C977"/>
                </a:solidFill>
              </a:rPr>
              <a:t>CTA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877824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51560" y="960120"/>
            <a:ext cx="45720" cy="914400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1170432"/>
            <a:ext cx="3977640" cy="704088"/>
          </a:xfrm>
          <a:prstGeom prst="rect">
            <a:avLst/>
          </a:prstGeom>
          <a:solidFill>
            <a:srgbClr val="060E18"/>
          </a:solidFill>
          <a:ln w="635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234440" y="1207008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guessing. Start trusting your data. Quality Plus — built for the teams who can't afford to be wrong."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960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dark background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1170432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96328" y="1170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fades in — centred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appears on screen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55448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064B77">
              <a:alpha val="40000"/>
            </a:srgbClr>
          </a:solidFill>
          <a:ln w="635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96328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C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Book a Demo button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9659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51560" y="2029968"/>
            <a:ext cx="45720" cy="685800"/>
          </a:xfrm>
          <a:prstGeom prst="rect">
            <a:avLst/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23444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GRADE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22311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epic fade. Final orchestral chord. Logo holds 3 seconds. Clean and confident.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31136"/>
            <a:ext cx="3474720" cy="48463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44068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Plus" · qualityplus.aem.com · "Book a Demo →"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2807208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1051560" y="4709160"/>
            <a:ext cx="77724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118872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246888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374904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502920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6309360" y="4800600"/>
            <a:ext cx="1097280" cy="64008"/>
          </a:xfrm>
          <a:prstGeom prst="rect">
            <a:avLst/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7589520" y="4800600"/>
            <a:ext cx="1097280" cy="64008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118872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of 6  ·  1:10 – 1:30  ·  Quality Plus Promo Video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AD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63240" y="960120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3154680" y="960120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 total (6 scenes)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35608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435608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154680" y="143560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&amp; analysts — Oil &amp; Gas industry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02920" y="1911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911096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154680" y="1911096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#03AD9A (AEM teal) — hero accent throughout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86584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502920" y="23865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GRADE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2386584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3154680" y="2386584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cinema (#0A0F1A) — enterprise premium feel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62072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STYLE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63240" y="2862072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3154680" y="286207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display headers + clean body — Trebuchet MS / Calibri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ARC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3337560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3154680" y="3337560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(S1–2) → Reveal swell (S3) → Confident waltz (S4–5) → Epic close (S6)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13048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02920" y="3813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3813048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3154680" y="381304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 — qualityplus.aem.com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88536"/>
            <a:ext cx="2560320" cy="347472"/>
          </a:xfrm>
          <a:prstGeom prst="rect">
            <a:avLst/>
          </a:prstGeom>
          <a:solidFill>
            <a:srgbClr val="0E1826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502920" y="42885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63240" y="4288536"/>
            <a:ext cx="5623560" cy="347472"/>
          </a:xfrm>
          <a:prstGeom prst="rect">
            <a:avLst/>
          </a:prstGeom>
          <a:solidFill>
            <a:srgbClr val="060E18"/>
          </a:solidFill>
          <a:ln w="635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3154680" y="4288536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OpenAI product commercials — cinematic, data-forward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COLOUR PALETTE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8BC977"/>
          </a:solidFill>
          <a:ln w="12700">
            <a:solidFill>
              <a:srgbClr val="8BC9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45720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#8BC977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64592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63BF81"/>
          </a:solidFill>
          <a:ln w="12700">
            <a:solidFill>
              <a:srgbClr val="63BF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164592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#63BF81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83464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28B98F"/>
          </a:solidFill>
          <a:ln w="12700">
            <a:solidFill>
              <a:srgbClr val="28B98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283464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#28B98F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02336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03AD9A"/>
          </a:solidFill>
          <a:ln w="12700">
            <a:solidFill>
              <a:srgbClr val="03AD9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402336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#03AD9A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21208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008192"/>
          </a:solidFill>
          <a:ln w="12700">
            <a:solidFill>
              <a:srgbClr val="0081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521208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#008192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40080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064B77"/>
          </a:solidFill>
          <a:ln w="12700">
            <a:solidFill>
              <a:srgbClr val="064B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 47"/>
          <p:cNvSpPr/>
          <p:nvPr/>
        </p:nvSpPr>
        <p:spPr>
          <a:xfrm>
            <a:off x="640080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#064B77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589520" y="472744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1D275A"/>
          </a:solidFill>
          <a:ln w="12700">
            <a:solidFill>
              <a:srgbClr val="1D27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Text 49"/>
          <p:cNvSpPr/>
          <p:nvPr/>
        </p:nvSpPr>
        <p:spPr>
          <a:xfrm>
            <a:off x="7589520" y="49194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#1D275A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20358B7A-9954-63A2-B749-FFEE6B317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24" y="658750"/>
            <a:ext cx="1310258" cy="131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8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760EB7-58FE-CF04-B20B-2CBBA34CF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0" y="161589"/>
            <a:ext cx="2294966" cy="2524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A720F-6F35-D525-EF8B-D3C864DB2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56" y="0"/>
            <a:ext cx="2294967" cy="2760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875677-91BE-D292-B4BB-34B344FE9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31" y="2971062"/>
            <a:ext cx="4108450" cy="2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39B70-D09F-10D6-55B3-C6F0367C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47650"/>
            <a:ext cx="1775742" cy="2432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49F79F-EF24-266F-1A4F-F3D8E30D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50" y="98666"/>
            <a:ext cx="5137150" cy="2797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F1800-4A86-34A7-C360-1C5A6DE11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97" y="3130550"/>
            <a:ext cx="1827257" cy="1887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4A4E7C-C4C0-DA15-525D-614CF91DC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" y="3130550"/>
            <a:ext cx="3242551" cy="18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9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542B2-3D49-54A1-E565-D6F05B2A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3" y="0"/>
            <a:ext cx="90110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4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8891C-C661-43B7-78A3-060D3216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" y="0"/>
            <a:ext cx="91218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9D6FE-5FAD-DE46-EDEF-0EAA0862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74"/>
            <a:ext cx="9144000" cy="50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0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2708D-743C-07EE-040F-47CE0A791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0" y="0"/>
            <a:ext cx="88272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68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60FB3-371D-F1BD-0E1C-53FDB71C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46100"/>
            <a:ext cx="3302330" cy="38986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7E853-5501-CEA0-41B7-A0559C8B3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015" y="371356"/>
            <a:ext cx="3905882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29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782</Words>
  <Application>Microsoft Office PowerPoint</Application>
  <PresentationFormat>On-screen Show (16:9)</PresentationFormat>
  <Paragraphs>148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Plus — Promo Video Storyboard</dc:title>
  <dc:subject>PptxGenJS Presentation</dc:subject>
  <dc:creator>PptxGenJS</dc:creator>
  <cp:lastModifiedBy>Razeen Roslan | AEM Enersol</cp:lastModifiedBy>
  <cp:revision>2</cp:revision>
  <dcterms:created xsi:type="dcterms:W3CDTF">2026-05-20T15:52:13Z</dcterms:created>
  <dcterms:modified xsi:type="dcterms:W3CDTF">2026-05-21T02:06:05Z</dcterms:modified>
</cp:coreProperties>
</file>